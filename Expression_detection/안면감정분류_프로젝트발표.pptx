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09728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안면 감정 6분류 모델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DDEE"/>
                </a:solidFill>
              </a:rPr>
              <a:t>EfficientNetB0 기반 전이학습 · FER2013 이미지 데이터셋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AABB"/>
                </a:solidFill>
              </a:rPr>
              <a:t>비정형 데이터 처리 | 최종 프로젝트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57800"/>
            <a:ext cx="1920240" cy="1188720"/>
          </a:xfrm>
          <a:prstGeom prst="rect">
            <a:avLst/>
          </a:prstGeom>
          <a:solidFill>
            <a:srgbClr val="0D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EEFF"/>
                </a:solidFill>
              </a:rPr>
              <a:t>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509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이지수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5257800"/>
            <a:ext cx="1920240" cy="1188720"/>
          </a:xfrm>
          <a:prstGeom prst="rect">
            <a:avLst/>
          </a:prstGeom>
          <a:solidFill>
            <a:srgbClr val="0D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5303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EEFF"/>
                </a:solidFill>
              </a:rPr>
              <a:t>팀원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6509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진민경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59" y="5257800"/>
            <a:ext cx="1920240" cy="1188720"/>
          </a:xfrm>
          <a:prstGeom prst="rect">
            <a:avLst/>
          </a:prstGeom>
          <a:solidFill>
            <a:srgbClr val="0D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5303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EEFF"/>
                </a:solidFill>
              </a:rPr>
              <a:t>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56509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김성일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19" y="5257800"/>
            <a:ext cx="1920240" cy="1188720"/>
          </a:xfrm>
          <a:prstGeom prst="rect">
            <a:avLst/>
          </a:prstGeom>
          <a:solidFill>
            <a:srgbClr val="0D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19" y="5303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EEFF"/>
                </a:solidFill>
              </a:rPr>
              <a:t>팀원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19" y="56509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박효준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5257800"/>
            <a:ext cx="1920240" cy="1188720"/>
          </a:xfrm>
          <a:prstGeom prst="rect">
            <a:avLst/>
          </a:prstGeom>
          <a:solidFill>
            <a:srgbClr val="0D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5303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EEFF"/>
                </a:solidFill>
              </a:rPr>
              <a:t>팀원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56509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신우철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AABB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DD"/>
                </a:solidFill>
              </a:rPr>
              <a:t>목표 및 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00" cy="5029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🎯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얼굴 이미지로부터 6가지 감정을
자동으로 분류하는 딥러닝 모델 개발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486400" cy="5029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270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📋 배경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감정 인식 AI는 의료·교육·
HCI 등 다양한 분야에 활용 가능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486400" cy="5029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130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📦 데이터셋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FER2013 Kaggle 표정 이미지 데이터셋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5486400" cy="5029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130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🏷️ 분류 감정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434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기쁨 / 당황 / 분노 / 슬픔
+ 공포 / 놀람  (총 6종)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DD"/>
                </a:solidFill>
              </a:rPr>
              <a:t>안면 감정 6분류 모델  |  팀장 이지수 · 진민경 · 김성일 · 박효준 · 신우철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기존 방식과의 차별점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DD"/>
                </a:solidFill>
              </a:rPr>
              <a:t>무엇이 다른가?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743200" cy="54864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990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25880"/>
            <a:ext cx="4023360" cy="54864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9903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기존 방식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325880"/>
            <a:ext cx="4297680" cy="548640"/>
          </a:xfrm>
          <a:prstGeom prst="rect">
            <a:avLst/>
          </a:prstGeom>
          <a:solidFill>
            <a:srgbClr val="1A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3990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본 프로젝트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84248"/>
            <a:ext cx="2743200" cy="621792"/>
          </a:xfrm>
          <a:prstGeom prst="rect">
            <a:avLst/>
          </a:prstGeom>
          <a:solidFill>
            <a:srgbClr val="E8EA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093976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감정 클래스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984248"/>
            <a:ext cx="4023360" cy="621792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2093976"/>
            <a:ext cx="38039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4종 (기쁨/당황/분노/슬픔)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1984248"/>
            <a:ext cx="4297680" cy="621792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2093976"/>
            <a:ext cx="4078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6E3A"/>
                </a:solidFill>
              </a:rPr>
              <a:t>6종 (+공포/놀람)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42615"/>
            <a:ext cx="2743200" cy="621792"/>
          </a:xfrm>
          <a:prstGeom prst="rect">
            <a:avLst/>
          </a:prstGeom>
          <a:solidFill>
            <a:srgbClr val="E8EA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2752344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모델 아키텍처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642615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5848" y="2752344"/>
            <a:ext cx="38039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VGG16, ResNet50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2642615"/>
            <a:ext cx="4297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2752344"/>
            <a:ext cx="4078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6E3A"/>
                </a:solidFill>
              </a:rPr>
              <a:t>EfficientNetB0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300984"/>
            <a:ext cx="2743200" cy="621792"/>
          </a:xfrm>
          <a:prstGeom prst="rect">
            <a:avLst/>
          </a:prstGeom>
          <a:solidFill>
            <a:srgbClr val="E8EA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410712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전처리 방식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3300984"/>
            <a:ext cx="4023360" cy="621792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3410712"/>
            <a:ext cx="38039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전체 이미지 리사이즈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3300984"/>
            <a:ext cx="4297680" cy="621792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2088" y="3410712"/>
            <a:ext cx="4078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6E3A"/>
                </a:solidFill>
              </a:rPr>
              <a:t>EfficientNetB0 전처리 + ImageDataGenerator 증강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959352"/>
            <a:ext cx="2743200" cy="621792"/>
          </a:xfrm>
          <a:prstGeom prst="rect">
            <a:avLst/>
          </a:prstGeom>
          <a:solidFill>
            <a:srgbClr val="E8EA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4069080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학습 전략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3959352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55848" y="4069080"/>
            <a:ext cx="38039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FC 레이어 단순 학습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3959352"/>
            <a:ext cx="4297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62088" y="4069080"/>
            <a:ext cx="4078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6E3A"/>
                </a:solidFill>
              </a:rPr>
              <a:t>2단계 학습 (Extract → Fine-tune)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617720"/>
            <a:ext cx="2743200" cy="621792"/>
          </a:xfrm>
          <a:prstGeom prst="rect">
            <a:avLst/>
          </a:prstGeom>
          <a:solidFill>
            <a:srgbClr val="E8EA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4727448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해석 가능성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4617720"/>
            <a:ext cx="4023360" cy="621792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55848" y="4727448"/>
            <a:ext cx="38039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없음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52360" y="4617720"/>
            <a:ext cx="4297680" cy="621792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62088" y="4727448"/>
            <a:ext cx="4078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6E3A"/>
                </a:solidFill>
              </a:rPr>
              <a:t>Grad-CAM 시각화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DD"/>
                </a:solidFill>
              </a:rPr>
              <a:t>안면 감정 6분류 모델  |  팀장 이지수 · 진민경 · 김성일 · 박효준 · 신우철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감정 클래스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DD"/>
                </a:solidFill>
              </a:rPr>
              <a:t>Ekman(1972) 기본 감정 이론 기반 6종 분류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657600" cy="2148840"/>
          </a:xfrm>
          <a:prstGeom prst="rect">
            <a:avLst/>
          </a:prstGeom>
          <a:solidFill>
            <a:srgbClr val="FFFFFF"/>
          </a:solidFill>
          <a:ln w="317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657600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기쁨  (Happy)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3055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행복하고 즐거운 표정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1417320"/>
            <a:ext cx="3657600" cy="2148840"/>
          </a:xfrm>
          <a:prstGeom prst="rect">
            <a:avLst/>
          </a:prstGeom>
          <a:solidFill>
            <a:srgbClr val="FFFFFF"/>
          </a:solidFill>
          <a:ln w="317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3672" y="1417320"/>
            <a:ext cx="3657600" cy="5943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당황  (Embarrassed)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13055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당황하거나 어리둥절한 표정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4" y="1417320"/>
            <a:ext cx="3657600" cy="2148840"/>
          </a:xfrm>
          <a:prstGeom prst="rect">
            <a:avLst/>
          </a:prstGeom>
          <a:solidFill>
            <a:srgbClr val="FFFFFF"/>
          </a:solidFill>
          <a:ln w="317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7304" y="1417320"/>
            <a:ext cx="3657600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분노  (Angry)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13055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화나거나 짜증나는 표정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94760"/>
            <a:ext cx="3657600" cy="2148840"/>
          </a:xfrm>
          <a:prstGeom prst="rect">
            <a:avLst/>
          </a:prstGeom>
          <a:solidFill>
            <a:srgbClr val="FFFFFF"/>
          </a:solidFill>
          <a:ln w="317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794760"/>
            <a:ext cx="3657600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슬픔  (Sad)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0799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슬프거나 우울한 표정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3672" y="3794760"/>
            <a:ext cx="3657600" cy="2148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33672" y="3794760"/>
            <a:ext cx="3657600" cy="5943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3886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공포  (Scared)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450799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무섭거나 두려운 표정 ★ 신규 추가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02552" y="5486400"/>
            <a:ext cx="105156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55046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신규 추가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47304" y="3794760"/>
            <a:ext cx="3657600" cy="2148840"/>
          </a:xfrm>
          <a:prstGeom prst="rect">
            <a:avLst/>
          </a:prstGeom>
          <a:solidFill>
            <a:srgbClr val="FFFFFF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47304" y="3794760"/>
            <a:ext cx="36576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4464" y="3886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놀람  (Surprised)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450799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놀라거나 충격받은 표정 ★ 신규 추가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16184" y="5486400"/>
            <a:ext cx="105156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34472" y="55046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신규 추가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DD"/>
                </a:solidFill>
              </a:rPr>
              <a:t>안면 감정 6분류 모델  |  팀장 이지수 · 진민경 · 김성일 · 박효준 · 신우철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데이터셋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DD"/>
                </a:solidFill>
              </a:rPr>
              <a:t>FER2013 — Kaggle 표정 이미지 데이터셋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926080" cy="713232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이미지 형식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7276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48×48 그레이스케일 JPG (BGR 3채널로 저장)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2926080" cy="713232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데이터 규모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33172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48716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Train 23,744장  /  Test 5,945장  (neutral 제외 6클래스)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46120"/>
            <a:ext cx="2926080" cy="713232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4015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클래스별 구성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324612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40156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기쁨 7,215 · 슬픔 4,830 · 불안 4,097 · 분노 3,995 · 당황 3,171 · 상처 436 (불균형)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2926080" cy="713232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159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데이터 분할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416052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431596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Train 90% (21,372) / Val 10% (2,372) / Test 5,945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74920"/>
            <a:ext cx="2926080" cy="713232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2303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출처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507492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523036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Kaggle FER2013 (msambare) — 공개 표정 인식 벤치마크 데이터셋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DD"/>
                </a:solidFill>
              </a:rPr>
              <a:t>안면 감정 6분류 모델  |  팀장 이지수 · 진민경 · 김성일 · 박효준 · 신우철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전처리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DD"/>
                </a:solidFill>
              </a:rPr>
              <a:t>FER2013 48×48 → 224×224 리사이즈 + EfficientNetB0 전처리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394960" cy="4846320"/>
          </a:xfrm>
          <a:prstGeom prst="rect">
            <a:avLst/>
          </a:prstGeom>
          <a:solidFill>
            <a:srgbClr val="FFEBEB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539496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기존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전체 이미지 로드 (JPG)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→ 224×224 단순 리사이즈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→ 모델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947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1F1F"/>
                </a:solidFill>
              </a:rPr>
              <a:t>❌ 배경, 몸통 정보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74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1F1F"/>
                </a:solidFill>
              </a:rPr>
              <a:t>❌ 불필요한 노이즈 학습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280160"/>
            <a:ext cx="5394960" cy="4846320"/>
          </a:xfrm>
          <a:prstGeom prst="rect">
            <a:avLst/>
          </a:prstGeom>
          <a:solidFill>
            <a:srgbClr val="E8F8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280160"/>
            <a:ext cx="53949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✅ 본 프로젝트 (FER2013 기준)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874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전체 이미지 로드 (JPG)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423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→ RGB 변환 (OpenCV BGR→RGB)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971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→ 224×224 리사이즈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2043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→ EfficientNetB0 preprocess_input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0690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→ 데이터 증강 적용 (Train만)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617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16635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</a:rPr>
              <a:t>✅ 표준 벤치마크 전처리 준수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715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</a:rPr>
              <a:t>✅ ImageNet 사전학습 특성 최대 활용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383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8A8A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DD"/>
                </a:solidFill>
              </a:rPr>
              <a:t>안면 감정 6분류 모델  |  팀장 이지수 · 진민경 · 김성일 · 박효준 · 신우철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데이터 증강 (Data Augmentation)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DD"/>
                </a:solidFill>
              </a:rPr>
              <a:t>과적합 방지 및 일반화 성능 향상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48×48 저해상도 이미지의 다양성을 높이고 과적합을 방지하기 위해 Train 데이터에 다양한 증강을 적용합니다.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3657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8A8A"/>
                </a:solidFill>
              </a:rPr>
              <a:t>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54E"/>
                </a:solidFill>
              </a:rPr>
              <a:t>회전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±15도 랜덤 회전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920240"/>
            <a:ext cx="3657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21031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8A8A"/>
                </a:solidFill>
              </a:rPr>
              <a:t>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54E"/>
                </a:solidFill>
              </a:rPr>
              <a:t>수평 이동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±8% 이동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7304" y="1920240"/>
            <a:ext cx="3657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21031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8A8A"/>
                </a:solidFill>
              </a:rPr>
              <a:t>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54E"/>
                </a:solidFill>
              </a:rPr>
              <a:t>수직 이동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±8% 이동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023360"/>
            <a:ext cx="3657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8A8A"/>
                </a:solidFill>
              </a:rPr>
              <a:t>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54E"/>
                </a:solidFill>
              </a:rPr>
              <a:t>좌우 반전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Horizontal Flip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3672" y="4023360"/>
            <a:ext cx="3657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42062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8A8A"/>
                </a:solidFill>
              </a:rPr>
              <a:t>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54E"/>
                </a:solidFill>
              </a:rPr>
              <a:t>확대/축소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9512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Zoom ±10%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47304" y="4023360"/>
            <a:ext cx="3657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3" y="42062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8A8A"/>
                </a:solidFill>
              </a:rPr>
              <a:t>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4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54E"/>
                </a:solidFill>
              </a:rPr>
              <a:t>밝기 조정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3144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0.8 ~ 1.2배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DD"/>
                </a:solidFill>
              </a:rPr>
              <a:t>안면 감정 6분류 모델  |  팀장 이지수 · 진민경 · 김성일 · 박효준 · 신우철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모델 아키텍처 — EfficientNetB0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DD"/>
                </a:solidFill>
              </a:rPr>
              <a:t>경량·고성능 사전 학습 모델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303520" cy="475488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모델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0552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파라미터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5344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Top-1 정확도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01368"/>
            <a:ext cx="53035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9280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VGG16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189280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138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89280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71.3%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68296"/>
            <a:ext cx="5303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4597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ResNet50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24597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 25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5344" y="24597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55"/>
                </a:solidFill>
              </a:rPr>
              <a:t>74.9%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35224"/>
            <a:ext cx="5303520" cy="530352"/>
          </a:xfrm>
          <a:prstGeom prst="rect">
            <a:avLst/>
          </a:prstGeom>
          <a:solidFill>
            <a:srgbClr val="E8F8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02666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</a:rPr>
              <a:t>EfficientNetB0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0552" y="302666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</a:rPr>
              <a:t>  5.3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5344" y="302666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</a:rPr>
              <a:t>77.1%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3258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54E"/>
                </a:solidFill>
              </a:rPr>
              <a:t>모델 구조 (Input → Output)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783080"/>
            <a:ext cx="566928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837943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Input
224×224×3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331720"/>
            <a:ext cx="5486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4455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441448"/>
            <a:ext cx="5669280" cy="54864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249631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EfficientNetB0
(Pretrained)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990088"/>
            <a:ext cx="5486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4455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099815"/>
            <a:ext cx="5669280" cy="54864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3154679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GlobalAvgPooling2D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648456"/>
            <a:ext cx="5486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4455"/>
                </a:solidFill>
              </a:rPr>
              <a:t>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758184"/>
            <a:ext cx="5669280" cy="548640"/>
          </a:xfrm>
          <a:prstGeom prst="rect">
            <a:avLst/>
          </a:prstGeom>
          <a:solidFill>
            <a:srgbClr val="527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381304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BatchNormalization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306824"/>
            <a:ext cx="5486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4455"/>
                </a:solidFill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416552"/>
            <a:ext cx="566928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447141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Dense(512) + Dropout(0.4)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965192"/>
            <a:ext cx="5486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4455"/>
                </a:solidFill>
              </a:rPr>
              <a:t>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5074920"/>
            <a:ext cx="566928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5129783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Dense(256) + Dropout(0.3)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623559"/>
            <a:ext cx="5486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4455"/>
                </a:solidFill>
              </a:rPr>
              <a:t>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5733288"/>
            <a:ext cx="566928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578815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Dense(6)  Softmax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DD"/>
                </a:solidFill>
              </a:rPr>
              <a:t>안면 감정 6분류 모델  |  팀장 이지수 · 진민경 · 김성일 · 박효준 · 신우철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2단계 학습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DD"/>
                </a:solidFill>
              </a:rPr>
              <a:t>Feature Extraction → Fine-tuning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5623560" cy="4846320"/>
          </a:xfrm>
          <a:prstGeom prst="rect">
            <a:avLst/>
          </a:prstGeom>
          <a:solidFill>
            <a:srgbClr val="E8F8F5"/>
          </a:solidFill>
          <a:ln w="2540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5623560" cy="68580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Phase 1
Feature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• EfficientNetB0 전체 레이어 동결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334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• FC 레이어(Dense, Dropout)만 학습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211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• Learning Rate : 1e-3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307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• 최대 15 Epochs (EarlyStopping으로 조기 종료)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793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• EarlyStopping (patience=5)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2803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• ReduceLROnPlateau (factor=0.5)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7667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• ModelCheckpoint (val_accuracy 기준)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280160"/>
            <a:ext cx="5623560" cy="4846320"/>
          </a:xfrm>
          <a:prstGeom prst="rect">
            <a:avLst/>
          </a:prstGeom>
          <a:solidFill>
            <a:srgbClr val="FEF9E7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280160"/>
            <a:ext cx="562356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3258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Phase 2
Fine-tuning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8483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• 상위 30개 레이어 학습 허용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334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• 나머지 레이어는 계속 동결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8211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• Learning Rate : 1e-4  (Phase1의 1/10)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7307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• 최대 15 Epochs (EarlyStopping으로 조기 종료)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793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• EarlyStopping (patience=7)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82803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• ReduceLROnPlateau (factor=0.3)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7667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</a:rPr>
              <a:t>• ModelCheckpoint (val_accuracy 기준)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DD"/>
                </a:solidFill>
              </a:rPr>
              <a:t>안면 감정 6분류 모델  |  팀장 이지수 · 진민경 · 김성일 · 박효준 · 신우철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Grad-CAM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DD"/>
                </a:solidFill>
              </a:rPr>
              <a:t>모델 판단 근거 — 어디를 보고 결정했는가?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54E"/>
                </a:solidFill>
              </a:rPr>
              <a:t>Grad-CAM (Gradient-weighted Class Activation Mapping)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예측 클래스에 대한 마지막 Conv 레이어(top_conv)의 그래디언트를 활용해
모델이 집중한 이미지 영역을 히트맵(빨강=고집중, 파랑=저집중)으로 표현합니다.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06040"/>
            <a:ext cx="1737360" cy="12801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69748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입력 이미지
(48×48→224×224)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7" y="30632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54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12848" y="2606040"/>
            <a:ext cx="1737360" cy="128016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69748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EfficientNetB0
Forward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30632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54E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1376" y="2606040"/>
            <a:ext cx="1737360" cy="12801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269748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top_conv
그래디언트 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7024" y="30632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54E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2606040"/>
            <a:ext cx="1737360" cy="1280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6" y="269748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가중 평균
(채널별)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0632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54E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8432" y="2606040"/>
            <a:ext cx="1737360" cy="1280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4" y="269748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ReLU 적용
+ 리사이즈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0632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54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2606040"/>
            <a:ext cx="173736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0112" y="269748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원본 이미지에
오버레이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114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54E"/>
                </a:solidFill>
              </a:rPr>
              <a:t>결과 및 의의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617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• 모델이 눈·입·눈썹 등 감정 핵심 부위에 집중함을 시각적으로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120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• 예측 오류 시 모델이 어느 영역을 잘못 참조했는지 디버깅 가능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623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• 모델의 신뢰성과 해석 가능성(Explainability) 제고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DD"/>
                </a:solidFill>
              </a:rPr>
              <a:t>안면 감정 6분류 모델  |  팀장 이지수 · 진민경 · 김성일 · 박효준 · 신우철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모델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DD"/>
                </a:solidFill>
              </a:rPr>
              <a:t>실제 Test 성능 결과 (FER2013 5,945개)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5321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64592" cy="2103120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8A8A"/>
                </a:solidFill>
              </a:rPr>
              <a:t>Test Accuracy : 31.12%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Test Loss : 4.5539  /  테스트 샘플 5,945개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5321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164592" cy="210312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54E"/>
                </a:solidFill>
              </a:rPr>
              <a:t>클래스별 F1-Score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당황 0.516 / 기쁨 0.334 / 분노 0.273
불안 0.271 / 슬픔 0.257 / 상처 0.017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49039"/>
            <a:ext cx="55321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749039"/>
            <a:ext cx="164592" cy="21031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5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E44AD"/>
                </a:solidFill>
              </a:rPr>
              <a:t>Macro / Weighted 평균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7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Macro F1 : 0.278  /  Weighted F1 : 0.317
Macro Precision : 0.346  /  Recall : 0.284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749039"/>
            <a:ext cx="55321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749039"/>
            <a:ext cx="164592" cy="2103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02335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</a:rPr>
              <a:t>성능 저하 원인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5487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</a:rPr>
              <a:t>클래스 불균형 (상처 436개 최소)
저해상도 48×48 이미지 한계
→ 향후 데이터 보강 필요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DD"/>
                </a:solidFill>
              </a:rPr>
              <a:t>안면 감정 6분류 모델  |  팀장 이지수 · 진민경 · 김성일 · 박효준 · 신우철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32120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결론 및 기대 효과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338560" cy="804672"/>
          </a:xfrm>
          <a:prstGeom prst="rect">
            <a:avLst/>
          </a:prstGeom>
          <a:solidFill>
            <a:srgbClr val="0D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A8A"/>
                </a:solidFill>
              </a:rPr>
              <a:t>✅ 경량·고성능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44168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EfficientNetB0(5.3M) — ImageNet 전이학습 기반
당황(F1=0.516)·기쁨(F1=0.334) 상위권 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11338560" cy="804672"/>
          </a:xfrm>
          <a:prstGeom prst="rect">
            <a:avLst/>
          </a:prstGeom>
          <a:solidFill>
            <a:srgbClr val="0D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A8A"/>
                </a:solidFill>
              </a:rPr>
              <a:t>⚠️ 성능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04288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31.12% 정확도 — 클래스 불균형(상처 436개)과
48×48 저해상도가 주요 원인으로 분석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54680"/>
            <a:ext cx="11338560" cy="804672"/>
          </a:xfrm>
          <a:prstGeom prst="rect">
            <a:avLst/>
          </a:prstGeom>
          <a:solidFill>
            <a:srgbClr val="0D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6440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A8A"/>
                </a:solidFill>
              </a:rPr>
              <a:t>✅ FER2013 데이터셋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64408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FER2013 6클래스 (neutral 제외)
총 29,689개 이미지 활용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14800"/>
            <a:ext cx="11338560" cy="804672"/>
          </a:xfrm>
          <a:prstGeom prst="rect">
            <a:avLst/>
          </a:prstGeom>
          <a:solidFill>
            <a:srgbClr val="0D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2452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A8A"/>
                </a:solidFill>
              </a:rPr>
              <a:t>✅ 해석 가능성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224528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top_conv 레이어 Grad-CAM으로
모델 판단 근거 시각화 및 디버깅 수행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</a:rPr>
              <a:t>활용 분야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77840"/>
            <a:ext cx="2606040" cy="6858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60527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심리 상담 보조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5577840"/>
            <a:ext cx="2606040" cy="6858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560527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온라인 교육
집중도 모니터링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5577840"/>
            <a:ext cx="2606040" cy="6858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560527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고객 감정
분석 서비스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5577840"/>
            <a:ext cx="2606040" cy="6858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560527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운전자 위험
상태 감지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DD"/>
                </a:solidFill>
              </a:rPr>
              <a:t>안면 감정 6분류 모델  |  팀장 이지수 · 진민경 · 김성일 · 박효준 · 신우철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